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qP7pP9/RtHJyPO5QL0XezlAMs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664867-BF41-4AD3-A4AB-8E258729E8AC}">
  <a:tblStyle styleId="{41664867-BF41-4AD3-A4AB-8E258729E8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57beae8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57beae81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57beae81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57beae814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697e496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697e496e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68f64e02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68f64e028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68f64e02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a68f64e028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68f64e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a68f64e0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57beae814_0_20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g3a57beae814_0_20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g3a57beae814_0_20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57beae814_0_206"/>
          <p:cNvSpPr txBox="1"/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g3a57beae814_0_206"/>
          <p:cNvSpPr txBox="1"/>
          <p:nvPr>
            <p:ph idx="1" type="subTitle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a57beae814_0_206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g3a57beae814_0_206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g3a57beae814_0_206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57beae814_0_212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g3a57beae814_0_212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99" name="Google Shape;99;g3a57beae814_0_21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g3a57beae814_0_21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g3a57beae814_0_21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57beae814_0_218"/>
          <p:cNvSpPr txBox="1"/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 cap="none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4" name="Google Shape;104;g3a57beae814_0_218"/>
          <p:cNvSpPr txBox="1"/>
          <p:nvPr>
            <p:ph idx="1" type="body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a57beae814_0_21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6" name="Google Shape;106;g3a57beae814_0_21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7" name="Google Shape;107;g3a57beae814_0_21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7beae814_0_224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0" name="Google Shape;110;g3a57beae814_0_224"/>
          <p:cNvSpPr txBox="1"/>
          <p:nvPr>
            <p:ph idx="1" type="body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1" name="Google Shape;111;g3a57beae814_0_224"/>
          <p:cNvSpPr txBox="1"/>
          <p:nvPr>
            <p:ph idx="2" type="body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2" name="Google Shape;112;g3a57beae814_0_224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g3a57beae814_0_224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4" name="Google Shape;114;g3a57beae814_0_224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7beae814_0_231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7" name="Google Shape;117;g3a57beae814_0_231"/>
          <p:cNvSpPr txBox="1"/>
          <p:nvPr>
            <p:ph idx="1" type="body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18" name="Google Shape;118;g3a57beae814_0_231"/>
          <p:cNvSpPr txBox="1"/>
          <p:nvPr>
            <p:ph idx="2" type="body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19" name="Google Shape;119;g3a57beae814_0_231"/>
          <p:cNvSpPr txBox="1"/>
          <p:nvPr>
            <p:ph idx="3" type="body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20" name="Google Shape;120;g3a57beae814_0_231"/>
          <p:cNvSpPr txBox="1"/>
          <p:nvPr>
            <p:ph idx="4" type="body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21" name="Google Shape;121;g3a57beae814_0_23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g3a57beae814_0_23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3" name="Google Shape;123;g3a57beae814_0_23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7beae814_0_240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6" name="Google Shape;126;g3a57beae814_0_240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g3a57beae814_0_240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g3a57beae814_0_240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57beae814_0_245"/>
          <p:cNvSpPr txBox="1"/>
          <p:nvPr>
            <p:ph type="title"/>
          </p:nvPr>
        </p:nvSpPr>
        <p:spPr>
          <a:xfrm>
            <a:off x="304800" y="182033"/>
            <a:ext cx="2005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1" name="Google Shape;131;g3a57beae814_0_245"/>
          <p:cNvSpPr txBox="1"/>
          <p:nvPr>
            <p:ph idx="1" type="body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92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132" name="Google Shape;132;g3a57beae814_0_245"/>
          <p:cNvSpPr txBox="1"/>
          <p:nvPr>
            <p:ph idx="2" type="body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33" name="Google Shape;133;g3a57beae814_0_24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g3a57beae814_0_24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5" name="Google Shape;135;g3a57beae814_0_24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7beae814_0_252"/>
          <p:cNvSpPr txBox="1"/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g3a57beae814_0_252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a57beae814_0_252"/>
          <p:cNvSpPr txBox="1"/>
          <p:nvPr>
            <p:ph idx="1" type="body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0" name="Google Shape;140;g3a57beae814_0_25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1" name="Google Shape;141;g3a57beae814_0_25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g3a57beae814_0_25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7beae814_0_25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5" name="Google Shape;145;g3a57beae814_0_259"/>
          <p:cNvSpPr txBox="1"/>
          <p:nvPr>
            <p:ph idx="1" type="body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46" name="Google Shape;146;g3a57beae814_0_25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g3a57beae814_0_25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g3a57beae814_0_25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57beae814_0_265"/>
          <p:cNvSpPr txBox="1"/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1" name="Google Shape;151;g3a57beae814_0_265"/>
          <p:cNvSpPr txBox="1"/>
          <p:nvPr>
            <p:ph idx="1" type="body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52" name="Google Shape;152;g3a57beae814_0_26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g3a57beae814_0_26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g3a57beae814_0_26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7beae814_0_196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/>
        </p:txBody>
      </p:sp>
      <p:sp>
        <p:nvSpPr>
          <p:cNvPr id="82" name="Google Shape;82;g3a57beae814_0_196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a57beae814_0_196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a57beae814_0_196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a57beae814_0_196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4320"/>
              <a:t>“TallerConnect”</a:t>
            </a:r>
            <a:endParaRPr/>
          </a:p>
        </p:txBody>
      </p:sp>
      <p:sp>
        <p:nvSpPr>
          <p:cNvPr id="160" name="Google Shape;160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100"/>
              <a:t>Escuela de Informática y Telecomunicaciones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100"/>
              <a:t>Sede Puente Alto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100"/>
              <a:t>2025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2"/>
          <p:cNvGrpSpPr/>
          <p:nvPr/>
        </p:nvGrpSpPr>
        <p:grpSpPr>
          <a:xfrm>
            <a:off x="4082926" y="1382434"/>
            <a:ext cx="6781017" cy="4590224"/>
            <a:chOff x="0" y="0"/>
            <a:chExt cx="6781017" cy="4590224"/>
          </a:xfrm>
        </p:grpSpPr>
        <p:sp>
          <p:nvSpPr>
            <p:cNvPr id="167" name="Google Shape;167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Patricia Nieves</a:t>
              </a:r>
              <a:endParaRPr sz="21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sz="18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Desarrollo web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Isabella Silva</a:t>
              </a:r>
              <a:endParaRPr sz="21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Base de Datos</a:t>
              </a:r>
              <a:endParaRPr sz="18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base de datos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Loreto Miño</a:t>
              </a:r>
              <a:endParaRPr sz="21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 sz="18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Stephania Lucero</a:t>
              </a:r>
              <a:endParaRPr sz="21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 sz="1800">
                <a:solidFill>
                  <a:schemeClr val="dk1"/>
                </a:solidFill>
              </a:endParaRPr>
            </a:p>
            <a:p>
              <a:pPr indent="-114300" lvl="2" marL="43434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4159"/>
                </a:buClr>
                <a:buSzPts val="1800"/>
                <a:buChar char="⚬"/>
              </a:pPr>
              <a:r>
                <a:rPr lang="es-CL" sz="1800">
                  <a:solidFill>
                    <a:srgbClr val="264159"/>
                  </a:solidFill>
                  <a:latin typeface="Calibri"/>
                  <a:ea typeface="Calibri"/>
                  <a:cs typeface="Calibri"/>
                  <a:sym typeface="Calibri"/>
                </a:rPr>
                <a:t>Diseñador web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714900" y="2169776"/>
            <a:ext cx="4510200" cy="4794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talleres mecánicos pequeños en Puente Alto carecen de sistemas de gestión eficientes.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manuales dificultan la organización de sucursales, mecánicos, servicios, clientes y vehículos.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órdenes de trabajo y reservas de citas online limitada, lo que genera retrasos y mala experiencia del cliente.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6912075" y="2177325"/>
            <a:ext cx="4641300" cy="4794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propone TallerConnect, un sistema de gestión integral para talleres mecánicos que, a través de una plataforma web intuitiva y adaptable, permite organizar sucursales, asignar mecánicos, gestionar servicios, clientes y vehículos, así como administrar órdenes de trabajo y reservas de citas en línea, mejorando la eficiencia del taller y la experiencia del cliente.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2455750" y="2340600"/>
            <a:ext cx="1282169" cy="1310504"/>
          </a:xfrm>
          <a:custGeom>
            <a:rect b="b" l="l" r="r" t="t"/>
            <a:pathLst>
              <a:path extrusionOk="0" h="1416761" w="1416761">
                <a:moveTo>
                  <a:pt x="0" y="0"/>
                </a:moveTo>
                <a:lnTo>
                  <a:pt x="1416760" y="0"/>
                </a:lnTo>
                <a:lnTo>
                  <a:pt x="1416760" y="1416760"/>
                </a:lnTo>
                <a:lnTo>
                  <a:pt x="0" y="1416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3"/>
          <p:cNvSpPr/>
          <p:nvPr/>
        </p:nvSpPr>
        <p:spPr>
          <a:xfrm>
            <a:off x="8592382" y="2340599"/>
            <a:ext cx="1280696" cy="1102309"/>
          </a:xfrm>
          <a:custGeom>
            <a:rect b="b" l="l" r="r" t="t"/>
            <a:pathLst>
              <a:path extrusionOk="0" h="979830" w="1268016">
                <a:moveTo>
                  <a:pt x="0" y="0"/>
                </a:moveTo>
                <a:lnTo>
                  <a:pt x="1268015" y="0"/>
                </a:lnTo>
                <a:lnTo>
                  <a:pt x="1268015" y="979830"/>
                </a:lnTo>
                <a:lnTo>
                  <a:pt x="0" y="979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57beae814_0_5"/>
          <p:cNvSpPr/>
          <p:nvPr/>
        </p:nvSpPr>
        <p:spPr>
          <a:xfrm>
            <a:off x="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4" name="Google Shape;194;g3a57beae814_0_5"/>
          <p:cNvGrpSpPr/>
          <p:nvPr/>
        </p:nvGrpSpPr>
        <p:grpSpPr>
          <a:xfrm>
            <a:off x="2059523" y="1486069"/>
            <a:ext cx="9524500" cy="1697237"/>
            <a:chOff x="0" y="-9525"/>
            <a:chExt cx="3762691" cy="670500"/>
          </a:xfrm>
        </p:grpSpPr>
        <p:sp>
          <p:nvSpPr>
            <p:cNvPr id="195" name="Google Shape;195;g3a57beae814_0_5"/>
            <p:cNvSpPr/>
            <p:nvPr/>
          </p:nvSpPr>
          <p:spPr>
            <a:xfrm>
              <a:off x="0" y="0"/>
              <a:ext cx="3762691" cy="660919"/>
            </a:xfrm>
            <a:custGeom>
              <a:rect b="b" l="l" r="r" t="t"/>
              <a:pathLst>
                <a:path extrusionOk="0" h="660919" w="3762691">
                  <a:moveTo>
                    <a:pt x="21676" y="0"/>
                  </a:moveTo>
                  <a:lnTo>
                    <a:pt x="3741015" y="0"/>
                  </a:lnTo>
                  <a:cubicBezTo>
                    <a:pt x="3752986" y="0"/>
                    <a:pt x="3762691" y="9705"/>
                    <a:pt x="3762691" y="21676"/>
                  </a:cubicBezTo>
                  <a:lnTo>
                    <a:pt x="3762691" y="639243"/>
                  </a:lnTo>
                  <a:cubicBezTo>
                    <a:pt x="3762691" y="651215"/>
                    <a:pt x="3752986" y="660919"/>
                    <a:pt x="3741015" y="660919"/>
                  </a:cubicBezTo>
                  <a:lnTo>
                    <a:pt x="21676" y="660919"/>
                  </a:lnTo>
                  <a:cubicBezTo>
                    <a:pt x="9705" y="660919"/>
                    <a:pt x="0" y="651215"/>
                    <a:pt x="0" y="639243"/>
                  </a:cubicBezTo>
                  <a:lnTo>
                    <a:pt x="0" y="21676"/>
                  </a:lnTo>
                  <a:cubicBezTo>
                    <a:pt x="0" y="9705"/>
                    <a:pt x="9705" y="0"/>
                    <a:pt x="21676" y="0"/>
                  </a:cubicBezTo>
                  <a:close/>
                </a:path>
              </a:pathLst>
            </a:custGeom>
            <a:solidFill>
              <a:srgbClr val="F5F5F5"/>
            </a:solidFill>
            <a:ln cap="rnd" cmpd="sng" w="127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g3a57beae814_0_5"/>
            <p:cNvSpPr txBox="1"/>
            <p:nvPr/>
          </p:nvSpPr>
          <p:spPr>
            <a:xfrm>
              <a:off x="0" y="-9525"/>
              <a:ext cx="3762600" cy="6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g3a57beae814_0_5"/>
          <p:cNvSpPr/>
          <p:nvPr/>
        </p:nvSpPr>
        <p:spPr>
          <a:xfrm>
            <a:off x="598039" y="4331311"/>
            <a:ext cx="1323108" cy="1323108"/>
          </a:xfrm>
          <a:custGeom>
            <a:rect b="b" l="l" r="r" t="t"/>
            <a:pathLst>
              <a:path extrusionOk="0" h="1982184" w="1982184">
                <a:moveTo>
                  <a:pt x="0" y="0"/>
                </a:moveTo>
                <a:lnTo>
                  <a:pt x="1982184" y="0"/>
                </a:lnTo>
                <a:lnTo>
                  <a:pt x="1982184" y="1982184"/>
                </a:lnTo>
                <a:lnTo>
                  <a:pt x="0" y="1982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3a57beae814_0_5"/>
          <p:cNvSpPr txBox="1"/>
          <p:nvPr/>
        </p:nvSpPr>
        <p:spPr>
          <a:xfrm>
            <a:off x="2059533" y="3159517"/>
            <a:ext cx="952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900"/>
          </a:p>
        </p:txBody>
      </p:sp>
      <p:sp>
        <p:nvSpPr>
          <p:cNvPr id="199" name="Google Shape;199;g3a57beae814_0_5"/>
          <p:cNvSpPr/>
          <p:nvPr/>
        </p:nvSpPr>
        <p:spPr>
          <a:xfrm>
            <a:off x="685800" y="1876098"/>
            <a:ext cx="972310" cy="974081"/>
          </a:xfrm>
          <a:custGeom>
            <a:rect b="b" l="l" r="r" t="t"/>
            <a:pathLst>
              <a:path extrusionOk="0" h="1459298" w="1456644">
                <a:moveTo>
                  <a:pt x="0" y="0"/>
                </a:moveTo>
                <a:lnTo>
                  <a:pt x="1456644" y="0"/>
                </a:lnTo>
                <a:lnTo>
                  <a:pt x="1456644" y="1459298"/>
                </a:lnTo>
                <a:lnTo>
                  <a:pt x="0" y="1459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g3a57beae814_0_5"/>
          <p:cNvSpPr txBox="1"/>
          <p:nvPr/>
        </p:nvSpPr>
        <p:spPr>
          <a:xfrm>
            <a:off x="2059532" y="887883"/>
            <a:ext cx="952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900"/>
          </a:p>
        </p:txBody>
      </p:sp>
      <p:sp>
        <p:nvSpPr>
          <p:cNvPr id="201" name="Google Shape;201;g3a57beae814_0_5"/>
          <p:cNvSpPr txBox="1"/>
          <p:nvPr/>
        </p:nvSpPr>
        <p:spPr>
          <a:xfrm>
            <a:off x="2233705" y="1639581"/>
            <a:ext cx="91761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objetivo general del proyecto TallerConnect es desarrollar un sistema de gestión integral para talleres mecánicos que permita organizar sucursales, mecánicos, servicios, clientes y vehículos, así como administrar órdenes de trabajo y reservas de citas online. Este sistema busca optimizar la eficiencia interna de los talleres, mejorar la experiencia de los clientes y proporcionar una herramienta tecnológica accesible y adaptable que responda a las necesidades reales del sector.</a:t>
            </a:r>
            <a:endParaRPr sz="1600"/>
          </a:p>
        </p:txBody>
      </p:sp>
      <p:grpSp>
        <p:nvGrpSpPr>
          <p:cNvPr id="202" name="Google Shape;202;g3a57beae814_0_5"/>
          <p:cNvGrpSpPr/>
          <p:nvPr/>
        </p:nvGrpSpPr>
        <p:grpSpPr>
          <a:xfrm>
            <a:off x="2059517" y="3757700"/>
            <a:ext cx="9524312" cy="2794461"/>
            <a:chOff x="-12" y="-48228"/>
            <a:chExt cx="19048623" cy="5588922"/>
          </a:xfrm>
        </p:grpSpPr>
        <p:grpSp>
          <p:nvGrpSpPr>
            <p:cNvPr id="203" name="Google Shape;203;g3a57beae814_0_5"/>
            <p:cNvGrpSpPr/>
            <p:nvPr/>
          </p:nvGrpSpPr>
          <p:grpSpPr>
            <a:xfrm>
              <a:off x="-12" y="-48228"/>
              <a:ext cx="19048623" cy="5588922"/>
              <a:chOff x="-2" y="-9527"/>
              <a:chExt cx="3762691" cy="1103985"/>
            </a:xfrm>
          </p:grpSpPr>
          <p:sp>
            <p:nvSpPr>
              <p:cNvPr id="204" name="Google Shape;204;g3a57beae814_0_5"/>
              <p:cNvSpPr/>
              <p:nvPr/>
            </p:nvSpPr>
            <p:spPr>
              <a:xfrm>
                <a:off x="-2" y="1"/>
                <a:ext cx="3762691" cy="1094457"/>
              </a:xfrm>
              <a:custGeom>
                <a:rect b="b" l="l" r="r" t="t"/>
                <a:pathLst>
                  <a:path extrusionOk="0" h="999504" w="3762691">
                    <a:moveTo>
                      <a:pt x="21676" y="0"/>
                    </a:moveTo>
                    <a:lnTo>
                      <a:pt x="3741015" y="0"/>
                    </a:lnTo>
                    <a:cubicBezTo>
                      <a:pt x="3752986" y="0"/>
                      <a:pt x="3762691" y="9705"/>
                      <a:pt x="3762691" y="21676"/>
                    </a:cubicBezTo>
                    <a:lnTo>
                      <a:pt x="3762691" y="977828"/>
                    </a:lnTo>
                    <a:cubicBezTo>
                      <a:pt x="3762691" y="989800"/>
                      <a:pt x="3752986" y="999504"/>
                      <a:pt x="3741015" y="999504"/>
                    </a:cubicBezTo>
                    <a:lnTo>
                      <a:pt x="21676" y="999504"/>
                    </a:lnTo>
                    <a:cubicBezTo>
                      <a:pt x="9705" y="999504"/>
                      <a:pt x="0" y="989800"/>
                      <a:pt x="0" y="977828"/>
                    </a:cubicBezTo>
                    <a:lnTo>
                      <a:pt x="0" y="21676"/>
                    </a:lnTo>
                    <a:cubicBezTo>
                      <a:pt x="0" y="9705"/>
                      <a:pt x="9705" y="0"/>
                      <a:pt x="2167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 cap="rnd" cmpd="sng" w="12700">
                <a:solidFill>
                  <a:srgbClr val="2641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950" lIns="60950" spcFirstLastPara="1" rIns="60950" wrap="square" tIns="60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a57beae814_0_5"/>
              <p:cNvSpPr txBox="1"/>
              <p:nvPr/>
            </p:nvSpPr>
            <p:spPr>
              <a:xfrm>
                <a:off x="-2" y="-9527"/>
                <a:ext cx="3762600" cy="9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875" lIns="33875" spcFirstLastPara="1" rIns="33875" wrap="square" tIns="33875">
                <a:noAutofit/>
              </a:bodyPr>
              <a:lstStyle/>
              <a:p>
                <a:pPr indent="0" lvl="0" marL="0" marR="0" rtl="0" algn="ctr">
                  <a:lnSpc>
                    <a:spcPct val="14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" name="Google Shape;206;g3a57beae814_0_5"/>
            <p:cNvSpPr txBox="1"/>
            <p:nvPr/>
          </p:nvSpPr>
          <p:spPr>
            <a:xfrm>
              <a:off x="348122" y="130205"/>
              <a:ext cx="18351900" cy="52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Diseñar la arquitectura del sistema considerando la gestión de sucursales, mecánicos, servicios, clientes, vehículos y órdenes de trabajo.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Desarrollar la plataforma de software que permita la administración de reservas de citas online, el seguimiento de los servicios realizados y el envío automático de correos a los clientes.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Implementar funcionalidades de seguridad y control de acceso para proteger la información de clientes y del taller.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Permitir que el administrador genere reportes en PDF sobre servicios, clientes y órdenes de trabajo para facilitar la toma de decisiones.</a:t>
              </a:r>
              <a:endParaRPr sz="1600"/>
            </a:p>
            <a:p>
              <a:pPr indent="-165100" lvl="1" marL="34290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0" i="0" lang="es-CL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Realizar pruebas funcionales y de usabilidad para garantizar que el sistema cumpla con los requerimientos y sea fácil de usar.</a:t>
              </a:r>
              <a:endParaRPr sz="16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57beae814_0_184"/>
          <p:cNvSpPr/>
          <p:nvPr/>
        </p:nvSpPr>
        <p:spPr>
          <a:xfrm>
            <a:off x="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2" name="Google Shape;212;g3a57beae814_0_184"/>
          <p:cNvGrpSpPr/>
          <p:nvPr/>
        </p:nvGrpSpPr>
        <p:grpSpPr>
          <a:xfrm>
            <a:off x="4532607" y="747657"/>
            <a:ext cx="2094600" cy="920561"/>
            <a:chOff x="0" y="-66675"/>
            <a:chExt cx="4189200" cy="1841121"/>
          </a:xfrm>
        </p:grpSpPr>
        <p:sp>
          <p:nvSpPr>
            <p:cNvPr id="213" name="Google Shape;213;g3a57beae814_0_184"/>
            <p:cNvSpPr/>
            <p:nvPr/>
          </p:nvSpPr>
          <p:spPr>
            <a:xfrm>
              <a:off x="0" y="0"/>
              <a:ext cx="4189075" cy="1774446"/>
            </a:xfrm>
            <a:custGeom>
              <a:rect b="b" l="l" r="r" t="t"/>
              <a:pathLst>
                <a:path extrusionOk="0" h="1774446" w="4189075">
                  <a:moveTo>
                    <a:pt x="0" y="0"/>
                  </a:moveTo>
                  <a:lnTo>
                    <a:pt x="4189075" y="0"/>
                  </a:lnTo>
                  <a:lnTo>
                    <a:pt x="4189075" y="1774446"/>
                  </a:lnTo>
                  <a:lnTo>
                    <a:pt x="0" y="1774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4" name="Google Shape;214;g3a57beae814_0_184"/>
            <p:cNvSpPr txBox="1"/>
            <p:nvPr/>
          </p:nvSpPr>
          <p:spPr>
            <a:xfrm>
              <a:off x="0" y="-66675"/>
              <a:ext cx="4189200" cy="18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L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Alcances</a:t>
              </a:r>
              <a:endParaRPr sz="900"/>
            </a:p>
          </p:txBody>
        </p:sp>
      </p:grpSp>
      <p:sp>
        <p:nvSpPr>
          <p:cNvPr id="215" name="Google Shape;215;g3a57beae814_0_184"/>
          <p:cNvSpPr txBox="1"/>
          <p:nvPr/>
        </p:nvSpPr>
        <p:spPr>
          <a:xfrm>
            <a:off x="4532600" y="1623767"/>
            <a:ext cx="6649500" cy="4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hace el sistema:</a:t>
            </a:r>
            <a:endParaRPr b="1" sz="1700"/>
          </a:p>
          <a:p>
            <a:pPr indent="0" lvl="0" marL="0" marR="0" rtl="0" algn="l">
              <a:lnSpc>
                <a:spcPct val="115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TallerConnect permite gestionar de manera integral los talleres mecánicos, incluyendo el registro de clientes y vehículos, la administración de citas y servicios, y la organización de sucursales. Cuenta con mantenedores para usuarios, horarios disponibles y notificaciones automáticas por correo electrónico. Además, facilita la generación de reportes exportables en PDF y XLS, y ofrece gestión de roles y autenticación segura de usuarios.</a:t>
            </a:r>
            <a:endParaRPr sz="1700"/>
          </a:p>
          <a:p>
            <a:pPr indent="0" lvl="0" marL="0" marR="0" rtl="0" algn="l">
              <a:lnSpc>
                <a:spcPct val="124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no hace el sistema:</a:t>
            </a:r>
            <a:endParaRPr b="1" sz="1700"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TallerConnect no contempla procesamiento de pagos en línea, facturación electrónica ni funciones contables avanzadas.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69850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a57beae814_0_184"/>
          <p:cNvSpPr/>
          <p:nvPr/>
        </p:nvSpPr>
        <p:spPr>
          <a:xfrm>
            <a:off x="1010004" y="2030350"/>
            <a:ext cx="3274670" cy="2746629"/>
          </a:xfrm>
          <a:custGeom>
            <a:rect b="b" l="l" r="r" t="t"/>
            <a:pathLst>
              <a:path extrusionOk="0" h="4114800" w="4905872">
                <a:moveTo>
                  <a:pt x="0" y="0"/>
                </a:moveTo>
                <a:lnTo>
                  <a:pt x="4905872" y="0"/>
                </a:lnTo>
                <a:lnTo>
                  <a:pt x="4905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a57beae814_0_184"/>
          <p:cNvSpPr/>
          <p:nvPr/>
        </p:nvSpPr>
        <p:spPr>
          <a:xfrm>
            <a:off x="4508107" y="1650817"/>
            <a:ext cx="422841" cy="362586"/>
          </a:xfrm>
          <a:custGeom>
            <a:rect b="b" l="l" r="r" t="t"/>
            <a:pathLst>
              <a:path extrusionOk="0" h="543200" w="633469">
                <a:moveTo>
                  <a:pt x="0" y="0"/>
                </a:moveTo>
                <a:lnTo>
                  <a:pt x="633470" y="0"/>
                </a:lnTo>
                <a:lnTo>
                  <a:pt x="633470" y="543200"/>
                </a:lnTo>
                <a:lnTo>
                  <a:pt x="0" y="543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g3a57beae814_0_184"/>
          <p:cNvSpPr/>
          <p:nvPr/>
        </p:nvSpPr>
        <p:spPr>
          <a:xfrm>
            <a:off x="4532601" y="4773550"/>
            <a:ext cx="362471" cy="362471"/>
          </a:xfrm>
          <a:custGeom>
            <a:rect b="b" l="l" r="r" t="t"/>
            <a:pathLst>
              <a:path extrusionOk="0" h="454509" w="454509">
                <a:moveTo>
                  <a:pt x="0" y="0"/>
                </a:moveTo>
                <a:lnTo>
                  <a:pt x="454508" y="0"/>
                </a:lnTo>
                <a:lnTo>
                  <a:pt x="454508" y="454508"/>
                </a:lnTo>
                <a:lnTo>
                  <a:pt x="0" y="454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9" name="Google Shape;219;g3a57beae814_0_184" title="0.png"/>
          <p:cNvPicPr preferRelativeResize="0"/>
          <p:nvPr/>
        </p:nvPicPr>
        <p:blipFill>
          <a:blip r:embed="rId7">
            <a:alphaModFix amt="3000"/>
          </a:blip>
          <a:stretch>
            <a:fillRect/>
          </a:stretch>
        </p:blipFill>
        <p:spPr>
          <a:xfrm>
            <a:off x="888250" y="839488"/>
            <a:ext cx="10415500" cy="594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>
            <p:ph type="title"/>
          </p:nvPr>
        </p:nvSpPr>
        <p:spPr>
          <a:xfrm>
            <a:off x="841416" y="85199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839475" y="1604700"/>
            <a:ext cx="10365600" cy="515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Funcionales: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 Registrar clientes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 Iniciar sesión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 Recuperar contraseña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 Perfil de mecánico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R.5 Agendar las citas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R.6 Gestionar las citas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R.7 Configurar los horarios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R.8 Consultar estado de citas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R.9 Registrar de manera centralizada el historial de mantenciones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R.10 Visualizar el historial de servicios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R.11 Gestionar historial por administrador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R.12 Enviar notificaciones de recordatorio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R.13 Notificar confirmación y estado de citas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R.14 Gestionar un panel centralizado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R.15 Exportar reporte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/>
          <p:nvPr>
            <p:ph type="title"/>
          </p:nvPr>
        </p:nvSpPr>
        <p:spPr>
          <a:xfrm>
            <a:off x="841416" y="991177"/>
            <a:ext cx="105156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948350" y="1811300"/>
            <a:ext cx="10314600" cy="488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funcionales: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41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R.16 Rendimiento para usuarios simultáneos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R.17 Cifrado de contraseñas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R.18 Control de acceso por roles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R.19 Interfaz intuitiva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R.20 Navegación eficiente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R.21 Registro de logs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R.22 Portabilidad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R.23 Arquitectura modular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R.24 Registro centralizado de mantenciones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R.25 Gestión de usuarios y roles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R.26 Actualización y mantenimiento de datos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R.27 Exportación de información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80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R.28 Incorporar logo de taller mecanico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>
            <p:ph type="title"/>
          </p:nvPr>
        </p:nvSpPr>
        <p:spPr>
          <a:xfrm>
            <a:off x="185739" y="1017898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352467" y="1607946"/>
            <a:ext cx="999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200" y="906050"/>
            <a:ext cx="7769025" cy="5752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275" y="1712675"/>
            <a:ext cx="7105825" cy="47712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683550" y="1499250"/>
            <a:ext cx="108249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</a:rPr>
              <a:t>La arquitectura del sistema TallerConnect está representada siguiendo el enfoque del framework 4+1 y las recomendaciones del Proceso Unificado. Además, se adopta el patrón MVT (Model-View-Template) de Django para la organización interna del código: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s-CL" sz="1900">
                <a:solidFill>
                  <a:schemeClr val="dk1"/>
                </a:solidFill>
              </a:rPr>
              <a:t>Modelo (Model):</a:t>
            </a:r>
            <a:r>
              <a:rPr lang="es-CL" sz="1900">
                <a:solidFill>
                  <a:schemeClr val="dk1"/>
                </a:solidFill>
              </a:rPr>
              <a:t> gestiona la persistencia y estructura de los datos, incluyendo usuarios, clientes, vehículos, citas, órdenes de trabajo, servicios y sucursales.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s-CL" sz="1900">
                <a:solidFill>
                  <a:schemeClr val="dk1"/>
                </a:solidFill>
              </a:rPr>
              <a:t>Vista (View):</a:t>
            </a:r>
            <a:r>
              <a:rPr lang="es-CL" sz="1900">
                <a:solidFill>
                  <a:schemeClr val="dk1"/>
                </a:solidFill>
              </a:rPr>
              <a:t> contiene la lógica de negocio que procesa las solicitudes, aplica reglas y prepara la información para ser mostrada.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s-CL" sz="1900">
                <a:solidFill>
                  <a:schemeClr val="dk1"/>
                </a:solidFill>
              </a:rPr>
              <a:t>Plantilla (Template):</a:t>
            </a:r>
            <a:r>
              <a:rPr lang="es-CL" sz="1900">
                <a:solidFill>
                  <a:schemeClr val="dk1"/>
                </a:solidFill>
              </a:rPr>
              <a:t> se encarga de la presentación de la información al usuario, generando las interfaces según el tipo de usuario (cliente, mecánico, administrador).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697e496e4_0_6"/>
          <p:cNvSpPr txBox="1"/>
          <p:nvPr>
            <p:ph type="title"/>
          </p:nvPr>
        </p:nvSpPr>
        <p:spPr>
          <a:xfrm>
            <a:off x="663024" y="937883"/>
            <a:ext cx="105156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257" name="Google Shape;257;g3a697e496e4_0_6"/>
          <p:cNvSpPr txBox="1"/>
          <p:nvPr/>
        </p:nvSpPr>
        <p:spPr>
          <a:xfrm>
            <a:off x="663025" y="1676401"/>
            <a:ext cx="108249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a697e496e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400" y="2332727"/>
            <a:ext cx="9336225" cy="388622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757367" y="1558071"/>
            <a:ext cx="989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1" title="Diagramas-TallerConnect-DA_CU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75" y="1644850"/>
            <a:ext cx="4845200" cy="492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68f64e028_1_1"/>
          <p:cNvSpPr txBox="1"/>
          <p:nvPr>
            <p:ph type="title"/>
          </p:nvPr>
        </p:nvSpPr>
        <p:spPr>
          <a:xfrm>
            <a:off x="706567" y="901597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271" name="Google Shape;271;g3a68f64e028_1_1"/>
          <p:cNvSpPr txBox="1"/>
          <p:nvPr/>
        </p:nvSpPr>
        <p:spPr>
          <a:xfrm>
            <a:off x="757367" y="1558071"/>
            <a:ext cx="989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g3a68f64e028_1_1" title="Diagramas-TallerConnect-DA_CU0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675" y="1487800"/>
            <a:ext cx="4717501" cy="511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68f64e028_1_7"/>
          <p:cNvSpPr txBox="1"/>
          <p:nvPr>
            <p:ph type="title"/>
          </p:nvPr>
        </p:nvSpPr>
        <p:spPr>
          <a:xfrm>
            <a:off x="706567" y="901597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278" name="Google Shape;278;g3a68f64e028_1_7"/>
          <p:cNvSpPr txBox="1"/>
          <p:nvPr/>
        </p:nvSpPr>
        <p:spPr>
          <a:xfrm>
            <a:off x="757367" y="1558071"/>
            <a:ext cx="989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3a68f64e028_1_7" title="Diagramas-TallerConnect-DA_CU0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625" y="1649278"/>
            <a:ext cx="7854675" cy="497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68f64e028_0_0"/>
          <p:cNvSpPr/>
          <p:nvPr/>
        </p:nvSpPr>
        <p:spPr>
          <a:xfrm>
            <a:off x="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5" name="Google Shape;285;g3a68f64e028_0_0"/>
          <p:cNvGrpSpPr/>
          <p:nvPr/>
        </p:nvGrpSpPr>
        <p:grpSpPr>
          <a:xfrm>
            <a:off x="641252" y="1035173"/>
            <a:ext cx="10515600" cy="677550"/>
            <a:chOff x="0" y="-66675"/>
            <a:chExt cx="21031200" cy="1355100"/>
          </a:xfrm>
        </p:grpSpPr>
        <p:sp>
          <p:nvSpPr>
            <p:cNvPr id="286" name="Google Shape;286;g3a68f64e028_0_0"/>
            <p:cNvSpPr/>
            <p:nvPr/>
          </p:nvSpPr>
          <p:spPr>
            <a:xfrm>
              <a:off x="0" y="0"/>
              <a:ext cx="21031200" cy="1288352"/>
            </a:xfrm>
            <a:custGeom>
              <a:rect b="b" l="l" r="r" t="t"/>
              <a:pathLst>
                <a:path extrusionOk="0" h="128835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8352"/>
                  </a:lnTo>
                  <a:lnTo>
                    <a:pt x="0" y="12883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7" name="Google Shape;287;g3a68f64e028_0_0"/>
            <p:cNvSpPr txBox="1"/>
            <p:nvPr/>
          </p:nvSpPr>
          <p:spPr>
            <a:xfrm>
              <a:off x="0" y="-66675"/>
              <a:ext cx="21031200" cy="13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L" sz="4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Tecnologías del Desarrollo</a:t>
              </a:r>
              <a:endParaRPr sz="900"/>
            </a:p>
          </p:txBody>
        </p:sp>
      </p:grpSp>
      <p:grpSp>
        <p:nvGrpSpPr>
          <p:cNvPr id="288" name="Google Shape;288;g3a68f64e028_0_0"/>
          <p:cNvGrpSpPr/>
          <p:nvPr/>
        </p:nvGrpSpPr>
        <p:grpSpPr>
          <a:xfrm>
            <a:off x="3811640" y="1759785"/>
            <a:ext cx="7345579" cy="4525205"/>
            <a:chOff x="0" y="-38100"/>
            <a:chExt cx="2901900" cy="1787700"/>
          </a:xfrm>
        </p:grpSpPr>
        <p:sp>
          <p:nvSpPr>
            <p:cNvPr id="289" name="Google Shape;289;g3a68f64e028_0_0"/>
            <p:cNvSpPr/>
            <p:nvPr/>
          </p:nvSpPr>
          <p:spPr>
            <a:xfrm>
              <a:off x="0" y="0"/>
              <a:ext cx="2901812" cy="1749470"/>
            </a:xfrm>
            <a:custGeom>
              <a:rect b="b" l="l" r="r" t="t"/>
              <a:pathLst>
                <a:path extrusionOk="0" h="1749470" w="2901812">
                  <a:moveTo>
                    <a:pt x="28107" y="0"/>
                  </a:moveTo>
                  <a:lnTo>
                    <a:pt x="2873705" y="0"/>
                  </a:lnTo>
                  <a:cubicBezTo>
                    <a:pt x="2889228" y="0"/>
                    <a:pt x="2901812" y="12584"/>
                    <a:pt x="2901812" y="28107"/>
                  </a:cubicBezTo>
                  <a:lnTo>
                    <a:pt x="2901812" y="1721363"/>
                  </a:lnTo>
                  <a:cubicBezTo>
                    <a:pt x="2901812" y="1736886"/>
                    <a:pt x="2889228" y="1749470"/>
                    <a:pt x="2873705" y="1749470"/>
                  </a:cubicBezTo>
                  <a:lnTo>
                    <a:pt x="28107" y="1749470"/>
                  </a:lnTo>
                  <a:cubicBezTo>
                    <a:pt x="12584" y="1749470"/>
                    <a:pt x="0" y="1736886"/>
                    <a:pt x="0" y="1721363"/>
                  </a:cubicBezTo>
                  <a:lnTo>
                    <a:pt x="0" y="28107"/>
                  </a:lnTo>
                  <a:cubicBezTo>
                    <a:pt x="0" y="12584"/>
                    <a:pt x="12584" y="0"/>
                    <a:pt x="28107" y="0"/>
                  </a:cubicBezTo>
                  <a:close/>
                </a:path>
              </a:pathLst>
            </a:custGeom>
            <a:solidFill>
              <a:srgbClr val="F5F5F5"/>
            </a:solidFill>
            <a:ln cap="rnd" cmpd="sng" w="25400">
              <a:solidFill>
                <a:srgbClr val="0500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g3a68f64e028_0_0"/>
            <p:cNvSpPr txBox="1"/>
            <p:nvPr/>
          </p:nvSpPr>
          <p:spPr>
            <a:xfrm>
              <a:off x="0" y="-38100"/>
              <a:ext cx="2901900" cy="17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9325" lIns="169325" spcFirstLastPara="1" rIns="169325" wrap="square" tIns="169325">
              <a:noAutofit/>
            </a:bodyPr>
            <a:lstStyle/>
            <a:p>
              <a:pPr indent="0" lvl="0" marL="0" marR="0" rtl="0" algn="just">
                <a:lnSpc>
                  <a:spcPct val="16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g3a68f64e028_0_0"/>
          <p:cNvSpPr/>
          <p:nvPr/>
        </p:nvSpPr>
        <p:spPr>
          <a:xfrm>
            <a:off x="978478" y="2664743"/>
            <a:ext cx="2379377" cy="2257434"/>
          </a:xfrm>
          <a:custGeom>
            <a:rect b="b" l="l" r="r" t="t"/>
            <a:pathLst>
              <a:path extrusionOk="0" h="3381924" w="3564610">
                <a:moveTo>
                  <a:pt x="0" y="0"/>
                </a:moveTo>
                <a:lnTo>
                  <a:pt x="3564610" y="0"/>
                </a:lnTo>
                <a:lnTo>
                  <a:pt x="3564610" y="3381923"/>
                </a:lnTo>
                <a:lnTo>
                  <a:pt x="0" y="3381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g3a68f64e028_0_0"/>
          <p:cNvSpPr txBox="1"/>
          <p:nvPr/>
        </p:nvSpPr>
        <p:spPr>
          <a:xfrm>
            <a:off x="4043751" y="2000095"/>
            <a:ext cx="68811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HTML, CSS, JavaScript y Bootstrap 5.3.8 para una interfaz responsiva y amigable.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Python 3.12 con el framework Django 5.2.5, que permite una arquitectura robusta y segura.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MySQL 8.0.43, para almacenamiento confiable delos datos.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de versiones: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Git con repositorio en GitHub para gestión de cambios y colaboración.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/ Editor de código: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Visual Studio Code, por su versatilidad y soporte de extensiones.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Frameworks de pruebas: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pytest, LiveServerTestCase y Selenium para garantizar la calidad y correcto funcionamiento del sistema.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 dependencias: 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pip junto a venv (Python Virtual Environment) para un entorno controlado y reproducible.</a:t>
            </a:r>
            <a:endParaRPr sz="1600"/>
          </a:p>
          <a:p>
            <a:pPr indent="0" lvl="0" marL="0" marR="0" rtl="0" algn="just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Entorno de ejecución: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Python Virtual Environment (venv), asegurando aislamiento y compatibilidad de librerías.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graphicFrame>
        <p:nvGraphicFramePr>
          <p:cNvPr id="298" name="Google Shape;298;p13"/>
          <p:cNvGraphicFramePr/>
          <p:nvPr/>
        </p:nvGraphicFramePr>
        <p:xfrm>
          <a:off x="2863560" y="1921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{41664867-BF41-4AD3-A4AB-8E258729E8AC}</a:tableStyleId>
              </a:tblPr>
              <a:tblGrid>
                <a:gridCol w="3689375"/>
                <a:gridCol w="4938550"/>
              </a:tblGrid>
              <a:tr h="61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Fase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Fechas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Documentación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12/09/2025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MVP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06/10/2025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Producto 100%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03/11/2025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Pasadas al 100%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21/11/2025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 del Proyecto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799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05/12/2025</a:t>
                      </a:r>
                      <a:endParaRPr sz="1100" u="none" cap="none" strike="noStrike"/>
                    </a:p>
                  </a:txBody>
                  <a:tcPr marT="81925" marB="81925" marR="81925" marL="81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13"/>
          <p:cNvSpPr/>
          <p:nvPr/>
        </p:nvSpPr>
        <p:spPr>
          <a:xfrm>
            <a:off x="639049" y="3569250"/>
            <a:ext cx="1923361" cy="2465262"/>
          </a:xfrm>
          <a:custGeom>
            <a:rect b="b" l="l" r="r" t="t"/>
            <a:pathLst>
              <a:path extrusionOk="0" h="3043533" w="2914183">
                <a:moveTo>
                  <a:pt x="0" y="0"/>
                </a:moveTo>
                <a:lnTo>
                  <a:pt x="2914183" y="0"/>
                </a:lnTo>
                <a:lnTo>
                  <a:pt x="2914183" y="3043533"/>
                </a:lnTo>
                <a:lnTo>
                  <a:pt x="0" y="304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822469" y="1894125"/>
            <a:ext cx="6340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Costos por Fase </a:t>
            </a:r>
            <a:endParaRPr sz="2400" u="sng"/>
          </a:p>
        </p:txBody>
      </p:sp>
      <p:sp>
        <p:nvSpPr>
          <p:cNvPr id="306" name="Google Shape;306;p14"/>
          <p:cNvSpPr/>
          <p:nvPr/>
        </p:nvSpPr>
        <p:spPr>
          <a:xfrm>
            <a:off x="822475" y="2435226"/>
            <a:ext cx="3115032" cy="3199257"/>
          </a:xfrm>
          <a:custGeom>
            <a:rect b="b" l="l" r="r" t="t"/>
            <a:pathLst>
              <a:path extrusionOk="0" h="4114800" w="3857625">
                <a:moveTo>
                  <a:pt x="0" y="0"/>
                </a:moveTo>
                <a:lnTo>
                  <a:pt x="3857625" y="0"/>
                </a:lnTo>
                <a:lnTo>
                  <a:pt x="38576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07" name="Google Shape;307;p14"/>
          <p:cNvGraphicFramePr/>
          <p:nvPr/>
        </p:nvGraphicFramePr>
        <p:xfrm>
          <a:off x="5298431" y="2234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{41664867-BF41-4AD3-A4AB-8E258729E8AC}</a:tableStyleId>
              </a:tblPr>
              <a:tblGrid>
                <a:gridCol w="3116450"/>
                <a:gridCol w="2491350"/>
              </a:tblGrid>
              <a:tr h="5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$ 1.123.020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$ 2.072.616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$ 3.924.993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QA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$ 1.610.856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$ 1.450.168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 FASES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$ 10.181.653</a:t>
                      </a:r>
                      <a:endParaRPr sz="1800" u="none" cap="none" strike="noStrike"/>
                    </a:p>
                  </a:txBody>
                  <a:tcPr marT="28575" marB="2857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E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