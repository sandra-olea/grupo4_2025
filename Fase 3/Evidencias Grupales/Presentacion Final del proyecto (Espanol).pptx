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b55b41e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ab55b41ed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55b41ed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ab55b41ed1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b55b41ed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b55b41ed1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b55b41ed1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b55b41ed1_0_6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b55b41ed1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b55b41ed1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55b41ed1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b55b41ed1_0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55b41ed1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ab55b41ed1_0_4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55b41ed1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b55b41ed1_0_6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cfdb6218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acfdb6218a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cfdb6218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cfdb6218a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cfdb6218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acfdb6218a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9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5.png"/><Relationship Id="rId9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9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Ri1kvVA4lKGRfD0y-9mKypd3HLqtDVV8/view" TargetMode="External"/><Relationship Id="rId4" Type="http://schemas.openxmlformats.org/officeDocument/2006/relationships/image" Target="../media/image4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Final Capstone</a:t>
            </a:r>
            <a:br>
              <a:rPr lang="es-CL"/>
            </a:br>
            <a:r>
              <a:rPr lang="es-CL" sz="3200"/>
              <a:t>“Taller Connect”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55827" y="2315666"/>
            <a:ext cx="299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4"/>
          <p:cNvGrpSpPr/>
          <p:nvPr/>
        </p:nvGrpSpPr>
        <p:grpSpPr>
          <a:xfrm>
            <a:off x="4082926" y="1382434"/>
            <a:ext cx="6781052" cy="4590130"/>
            <a:chOff x="0" y="0"/>
            <a:chExt cx="6781052" cy="4590130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Patricia Nieves</a:t>
              </a:r>
              <a:endParaRPr sz="21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sz="18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web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Isabella Silva</a:t>
              </a:r>
              <a:endParaRPr sz="21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Base de Datos</a:t>
              </a:r>
              <a:endParaRPr sz="18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base de datos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Loreto Miño</a:t>
              </a:r>
              <a:endParaRPr sz="21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 sz="18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Calidad y Testing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Stephania Lucero</a:t>
              </a:r>
              <a:endParaRPr sz="21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 sz="1800">
                <a:solidFill>
                  <a:schemeClr val="lt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⚬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 web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769409" y="908288"/>
            <a:ext cx="10515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32125" y="1804976"/>
            <a:ext cx="4510200" cy="47943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 talleres mecánicos pequeños en Puente Alto carecen de sistemas de gestión eficientes. Sus procesos manuales dificultan la administración de sucursales, mecánicos, servicios, clientes y vehículos, lo que provoca desorden operativo. Además, la limitada gestión de órdenes de trabajo y reservas de citas en línea genera retrasos, errores y una mala experiencia para los clientes.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766800" y="1717700"/>
            <a:ext cx="4786500" cy="47943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propone TallerConnect,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sistema de gestión integral para talleres mecánicos que centraliza la administración de sucursales, mecánicos, servicios, clientes y vehículos. A través de una plataforma web intuitiva, permite gestionar órdenes de trabajo y agendamiento de citas en línea, optimizando los procesos internos, reduciendo tiempos de atención y mejorando significativamente la experiencia del cliente.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456903" y="3736258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2145675" y="1939325"/>
            <a:ext cx="1282169" cy="1310504"/>
          </a:xfrm>
          <a:custGeom>
            <a:rect b="b" l="l" r="r" t="t"/>
            <a:pathLst>
              <a:path extrusionOk="0" h="1416761" w="1416761">
                <a:moveTo>
                  <a:pt x="0" y="0"/>
                </a:moveTo>
                <a:lnTo>
                  <a:pt x="1416760" y="0"/>
                </a:lnTo>
                <a:lnTo>
                  <a:pt x="1416760" y="1416760"/>
                </a:lnTo>
                <a:lnTo>
                  <a:pt x="0" y="1416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>
            <a:off x="8592382" y="1939324"/>
            <a:ext cx="1280696" cy="1102309"/>
          </a:xfrm>
          <a:custGeom>
            <a:rect b="b" l="l" r="r" t="t"/>
            <a:pathLst>
              <a:path extrusionOk="0" h="979830" w="1268016">
                <a:moveTo>
                  <a:pt x="0" y="0"/>
                </a:moveTo>
                <a:lnTo>
                  <a:pt x="1268015" y="0"/>
                </a:lnTo>
                <a:lnTo>
                  <a:pt x="1268015" y="979830"/>
                </a:lnTo>
                <a:lnTo>
                  <a:pt x="0" y="979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16"/>
          <p:cNvGrpSpPr/>
          <p:nvPr/>
        </p:nvGrpSpPr>
        <p:grpSpPr>
          <a:xfrm>
            <a:off x="2059523" y="1486069"/>
            <a:ext cx="9524500" cy="1697237"/>
            <a:chOff x="0" y="-9525"/>
            <a:chExt cx="3762691" cy="6705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3762691" cy="660919"/>
            </a:xfrm>
            <a:custGeom>
              <a:rect b="b" l="l" r="r" t="t"/>
              <a:pathLst>
                <a:path extrusionOk="0" h="660919" w="3762691">
                  <a:moveTo>
                    <a:pt x="21676" y="0"/>
                  </a:moveTo>
                  <a:lnTo>
                    <a:pt x="3741015" y="0"/>
                  </a:lnTo>
                  <a:cubicBezTo>
                    <a:pt x="3752986" y="0"/>
                    <a:pt x="3762691" y="9705"/>
                    <a:pt x="3762691" y="21676"/>
                  </a:cubicBezTo>
                  <a:lnTo>
                    <a:pt x="3762691" y="639243"/>
                  </a:lnTo>
                  <a:cubicBezTo>
                    <a:pt x="3762691" y="651215"/>
                    <a:pt x="3752986" y="660919"/>
                    <a:pt x="3741015" y="660919"/>
                  </a:cubicBezTo>
                  <a:lnTo>
                    <a:pt x="21676" y="660919"/>
                  </a:lnTo>
                  <a:cubicBezTo>
                    <a:pt x="9705" y="660919"/>
                    <a:pt x="0" y="651215"/>
                    <a:pt x="0" y="639243"/>
                  </a:cubicBezTo>
                  <a:lnTo>
                    <a:pt x="0" y="21676"/>
                  </a:lnTo>
                  <a:cubicBezTo>
                    <a:pt x="0" y="9705"/>
                    <a:pt x="9705" y="0"/>
                    <a:pt x="21676" y="0"/>
                  </a:cubicBezTo>
                  <a:close/>
                </a:path>
              </a:pathLst>
            </a:custGeom>
            <a:solidFill>
              <a:srgbClr val="F5F5F5"/>
            </a:solidFill>
            <a:ln cap="rnd" cmpd="sng" w="127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0" y="-9525"/>
              <a:ext cx="3762600" cy="6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6"/>
          <p:cNvSpPr/>
          <p:nvPr/>
        </p:nvSpPr>
        <p:spPr>
          <a:xfrm>
            <a:off x="598039" y="4331311"/>
            <a:ext cx="1323108" cy="1323108"/>
          </a:xfrm>
          <a:custGeom>
            <a:rect b="b" l="l" r="r" t="t"/>
            <a:pathLst>
              <a:path extrusionOk="0" h="1982184" w="1982184">
                <a:moveTo>
                  <a:pt x="0" y="0"/>
                </a:moveTo>
                <a:lnTo>
                  <a:pt x="1982184" y="0"/>
                </a:lnTo>
                <a:lnTo>
                  <a:pt x="1982184" y="1982184"/>
                </a:lnTo>
                <a:lnTo>
                  <a:pt x="0" y="1982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6"/>
          <p:cNvSpPr txBox="1"/>
          <p:nvPr/>
        </p:nvSpPr>
        <p:spPr>
          <a:xfrm>
            <a:off x="2059533" y="3159517"/>
            <a:ext cx="952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900"/>
          </a:p>
        </p:txBody>
      </p:sp>
      <p:sp>
        <p:nvSpPr>
          <p:cNvPr id="124" name="Google Shape;124;p16"/>
          <p:cNvSpPr/>
          <p:nvPr/>
        </p:nvSpPr>
        <p:spPr>
          <a:xfrm>
            <a:off x="685800" y="1876098"/>
            <a:ext cx="972310" cy="974081"/>
          </a:xfrm>
          <a:custGeom>
            <a:rect b="b" l="l" r="r" t="t"/>
            <a:pathLst>
              <a:path extrusionOk="0" h="1459298" w="1456644">
                <a:moveTo>
                  <a:pt x="0" y="0"/>
                </a:moveTo>
                <a:lnTo>
                  <a:pt x="1456644" y="0"/>
                </a:lnTo>
                <a:lnTo>
                  <a:pt x="1456644" y="1459298"/>
                </a:lnTo>
                <a:lnTo>
                  <a:pt x="0" y="1459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6"/>
          <p:cNvSpPr txBox="1"/>
          <p:nvPr/>
        </p:nvSpPr>
        <p:spPr>
          <a:xfrm>
            <a:off x="2059532" y="887883"/>
            <a:ext cx="952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900"/>
          </a:p>
        </p:txBody>
      </p:sp>
      <p:sp>
        <p:nvSpPr>
          <p:cNvPr id="126" name="Google Shape;126;p16"/>
          <p:cNvSpPr txBox="1"/>
          <p:nvPr/>
        </p:nvSpPr>
        <p:spPr>
          <a:xfrm>
            <a:off x="2233705" y="1639581"/>
            <a:ext cx="91761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objetivo general del proyecto TallerConnect es desarrollar un sistema de gestión integral para talleres mecánicos que permita organizar sucursales, mecánicos, servicios, clientes y vehículos, así como administrar órdenes de trabajo y reservas de citas online. Este sistema busca optimizar la eficiencia interna de los talleres, mejorar la experiencia de los clientes y proporcionar una herramienta tecnológica accesible y adaptable que responda a las necesidades reales del sector.</a:t>
            </a:r>
            <a:endParaRPr sz="1600"/>
          </a:p>
        </p:txBody>
      </p:sp>
      <p:grpSp>
        <p:nvGrpSpPr>
          <p:cNvPr id="127" name="Google Shape;127;p16"/>
          <p:cNvGrpSpPr/>
          <p:nvPr/>
        </p:nvGrpSpPr>
        <p:grpSpPr>
          <a:xfrm>
            <a:off x="2059517" y="3757700"/>
            <a:ext cx="9524312" cy="2794461"/>
            <a:chOff x="-12" y="-48228"/>
            <a:chExt cx="19048623" cy="5588922"/>
          </a:xfrm>
        </p:grpSpPr>
        <p:grpSp>
          <p:nvGrpSpPr>
            <p:cNvPr id="128" name="Google Shape;128;p16"/>
            <p:cNvGrpSpPr/>
            <p:nvPr/>
          </p:nvGrpSpPr>
          <p:grpSpPr>
            <a:xfrm>
              <a:off x="-12" y="-48228"/>
              <a:ext cx="19048623" cy="5588922"/>
              <a:chOff x="-2" y="-9527"/>
              <a:chExt cx="3762691" cy="1103985"/>
            </a:xfrm>
          </p:grpSpPr>
          <p:sp>
            <p:nvSpPr>
              <p:cNvPr id="129" name="Google Shape;129;p16"/>
              <p:cNvSpPr/>
              <p:nvPr/>
            </p:nvSpPr>
            <p:spPr>
              <a:xfrm>
                <a:off x="-2" y="1"/>
                <a:ext cx="3762691" cy="1094457"/>
              </a:xfrm>
              <a:custGeom>
                <a:rect b="b" l="l" r="r" t="t"/>
                <a:pathLst>
                  <a:path extrusionOk="0" h="999504" w="3762691">
                    <a:moveTo>
                      <a:pt x="21676" y="0"/>
                    </a:moveTo>
                    <a:lnTo>
                      <a:pt x="3741015" y="0"/>
                    </a:lnTo>
                    <a:cubicBezTo>
                      <a:pt x="3752986" y="0"/>
                      <a:pt x="3762691" y="9705"/>
                      <a:pt x="3762691" y="21676"/>
                    </a:cubicBezTo>
                    <a:lnTo>
                      <a:pt x="3762691" y="977828"/>
                    </a:lnTo>
                    <a:cubicBezTo>
                      <a:pt x="3762691" y="989800"/>
                      <a:pt x="3752986" y="999504"/>
                      <a:pt x="3741015" y="999504"/>
                    </a:cubicBezTo>
                    <a:lnTo>
                      <a:pt x="21676" y="999504"/>
                    </a:lnTo>
                    <a:cubicBezTo>
                      <a:pt x="9705" y="999504"/>
                      <a:pt x="0" y="989800"/>
                      <a:pt x="0" y="977828"/>
                    </a:cubicBezTo>
                    <a:lnTo>
                      <a:pt x="0" y="21676"/>
                    </a:lnTo>
                    <a:cubicBezTo>
                      <a:pt x="0" y="9705"/>
                      <a:pt x="9705" y="0"/>
                      <a:pt x="2167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 cap="rnd" cmpd="sng" w="12700">
                <a:solidFill>
                  <a:srgbClr val="2641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950" lIns="60950" spcFirstLastPara="1" rIns="60950" wrap="square" tIns="609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-2" y="-9527"/>
                <a:ext cx="3762600" cy="9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875" lIns="33875" spcFirstLastPara="1" rIns="33875" wrap="square" tIns="33875">
                <a:noAutofit/>
              </a:bodyPr>
              <a:lstStyle/>
              <a:p>
                <a:pPr indent="0" lvl="0" marL="0" marR="0" rtl="0" algn="ctr">
                  <a:lnSpc>
                    <a:spcPct val="14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16"/>
            <p:cNvSpPr txBox="1"/>
            <p:nvPr/>
          </p:nvSpPr>
          <p:spPr>
            <a:xfrm>
              <a:off x="348122" y="130205"/>
              <a:ext cx="18351900" cy="52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Diseñar la arquitectura del sistema considerando la gestión de sucursales, mecánicos, servicios, clientes, vehículos y órdenes de trabajo.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Desarrollar la plataforma de software que permita la administración de reservas de citas online, el seguimiento de los servicios realizados y el envío automático de correos a los clientes.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Implementar funcionalidades de seguridad y control de acceso para proteger la información de clientes y del taller.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Permitir que el administrador genere reportes en PDF sobre servicios, clientes y órdenes de trabajo para facilitar la toma de decisiones.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Realizar pruebas funcionales y de usabilidad para garantizar que el sistema cumpla con los requerimientos y sea fácil de usar.</a:t>
              </a:r>
              <a:endParaRPr sz="16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7"/>
          <p:cNvGrpSpPr/>
          <p:nvPr/>
        </p:nvGrpSpPr>
        <p:grpSpPr>
          <a:xfrm>
            <a:off x="1013663" y="747650"/>
            <a:ext cx="9755550" cy="920567"/>
            <a:chOff x="-7037889" y="-66688"/>
            <a:chExt cx="19511100" cy="1841134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4189075" cy="1774446"/>
            </a:xfrm>
            <a:custGeom>
              <a:rect b="b" l="l" r="r" t="t"/>
              <a:pathLst>
                <a:path extrusionOk="0" h="1774446" w="4189075">
                  <a:moveTo>
                    <a:pt x="0" y="0"/>
                  </a:moveTo>
                  <a:lnTo>
                    <a:pt x="4189075" y="0"/>
                  </a:lnTo>
                  <a:lnTo>
                    <a:pt x="4189075" y="1774446"/>
                  </a:lnTo>
                  <a:lnTo>
                    <a:pt x="0" y="1774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8" name="Google Shape;138;p17"/>
            <p:cNvSpPr txBox="1"/>
            <p:nvPr/>
          </p:nvSpPr>
          <p:spPr>
            <a:xfrm>
              <a:off x="-7037889" y="-66688"/>
              <a:ext cx="19511100" cy="18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400"/>
                <a:buFont typeface="Calibri"/>
                <a:buNone/>
              </a:pPr>
              <a:r>
                <a:rPr lang="es-CL" sz="4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Alcances y Limitaciones del Proyecto</a:t>
              </a:r>
              <a:endParaRPr sz="900"/>
            </a:p>
          </p:txBody>
        </p:sp>
      </p:grpSp>
      <p:sp>
        <p:nvSpPr>
          <p:cNvPr id="139" name="Google Shape;139;p17"/>
          <p:cNvSpPr txBox="1"/>
          <p:nvPr/>
        </p:nvSpPr>
        <p:spPr>
          <a:xfrm>
            <a:off x="4532600" y="1623767"/>
            <a:ext cx="6649500" cy="4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hace el sistema:</a:t>
            </a:r>
            <a:endParaRPr b="1" sz="1700"/>
          </a:p>
          <a:p>
            <a:pPr indent="0" lvl="0" marL="0" marR="0" rtl="0" algn="l">
              <a:lnSpc>
                <a:spcPct val="115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TallerConnect permite gestionar de manera integral los talleres mecánicos, incluyendo el registro de clientes y vehículos, la administración de citas y servicios, y la organización de sucursales. Cuenta con mantenedores para usuarios, horarios disponibles y notificaciones automáticas por correo electrónico. Además, facilita la generación de reportes exportables en PDF y XLS, y ofrece gestión de roles y autenticación segura de usuarios.</a:t>
            </a:r>
            <a:endParaRPr sz="1700"/>
          </a:p>
          <a:p>
            <a:pPr indent="0" lvl="0" marL="0" marR="0" rtl="0" algn="l">
              <a:lnSpc>
                <a:spcPct val="1244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no hace el sistema:</a:t>
            </a:r>
            <a:endParaRPr b="1" sz="17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TallerConnect no contempla procesamiento de pagos en línea, funciones contables avanzadas.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69850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1010004" y="2030350"/>
            <a:ext cx="3274670" cy="2746629"/>
          </a:xfrm>
          <a:custGeom>
            <a:rect b="b" l="l" r="r" t="t"/>
            <a:pathLst>
              <a:path extrusionOk="0" h="4114800" w="4905872">
                <a:moveTo>
                  <a:pt x="0" y="0"/>
                </a:moveTo>
                <a:lnTo>
                  <a:pt x="4905872" y="0"/>
                </a:lnTo>
                <a:lnTo>
                  <a:pt x="4905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7"/>
          <p:cNvSpPr/>
          <p:nvPr/>
        </p:nvSpPr>
        <p:spPr>
          <a:xfrm>
            <a:off x="4508107" y="1650817"/>
            <a:ext cx="422841" cy="362586"/>
          </a:xfrm>
          <a:custGeom>
            <a:rect b="b" l="l" r="r" t="t"/>
            <a:pathLst>
              <a:path extrusionOk="0" h="543200" w="633469">
                <a:moveTo>
                  <a:pt x="0" y="0"/>
                </a:moveTo>
                <a:lnTo>
                  <a:pt x="633470" y="0"/>
                </a:lnTo>
                <a:lnTo>
                  <a:pt x="633470" y="543200"/>
                </a:lnTo>
                <a:lnTo>
                  <a:pt x="0" y="543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7"/>
          <p:cNvSpPr/>
          <p:nvPr/>
        </p:nvSpPr>
        <p:spPr>
          <a:xfrm>
            <a:off x="4538288" y="4414500"/>
            <a:ext cx="362471" cy="362471"/>
          </a:xfrm>
          <a:custGeom>
            <a:rect b="b" l="l" r="r" t="t"/>
            <a:pathLst>
              <a:path extrusionOk="0" h="454509" w="454509">
                <a:moveTo>
                  <a:pt x="0" y="0"/>
                </a:moveTo>
                <a:lnTo>
                  <a:pt x="454508" y="0"/>
                </a:lnTo>
                <a:lnTo>
                  <a:pt x="454508" y="454508"/>
                </a:lnTo>
                <a:lnTo>
                  <a:pt x="0" y="454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3" name="Google Shape;143;p17" title="0.png"/>
          <p:cNvPicPr preferRelativeResize="0"/>
          <p:nvPr/>
        </p:nvPicPr>
        <p:blipFill rotWithShape="1">
          <a:blip r:embed="rId6">
            <a:alphaModFix amt="3000"/>
          </a:blip>
          <a:srcRect b="48940" l="25029" r="-25029" t="-48940"/>
          <a:stretch/>
        </p:blipFill>
        <p:spPr>
          <a:xfrm>
            <a:off x="1116000" y="545163"/>
            <a:ext cx="10415500" cy="594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765497" y="662195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839475" y="1280775"/>
            <a:ext cx="10587600" cy="547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	</a:t>
            </a:r>
            <a:r>
              <a:rPr b="1" lang="es-CL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1" lang="es-CL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usuario y acceso: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 Registrar clientes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 Iniciar sesión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 Recuperar contraseña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 Perfil de mecánico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citas y servicios: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R.5 Agendar las citas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R.6 Gestionar las citas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R.7 Configurar los horarios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R.8 Consultar estado de citas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1" lang="es-CL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historial: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R.9 Registrar de manera centralizada el historial de mantenciones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R.10 Visualizar el historial de servicios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R.11 Gestionar historial por administrador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R.12 Enviar notificaciones de recordatorio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R.13 Notificar confirmación y estado de citas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administrativo y Reportes: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R.14 Gestionar un panel centralizado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R.15 Exportar reporte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41416" y="877299"/>
            <a:ext cx="105156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948350" y="1672116"/>
            <a:ext cx="10314600" cy="488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Seguridad: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R.16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Cifrado de contraseñas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R.17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acceso por roles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 y escalabilidad: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R.18 Rendimiento para usuarios simultáneos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R.19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modular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R.20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Portabilidad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Usabilidad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R.21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intuitiva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R.22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Navegación eficiente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R.23 Incorporar logo de taller mecanico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Mantenibilidad y gestión: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R.24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logs.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R.25 Registro centralizado de mantenciones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R.26 Gestión de usuarios y roles.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R.27 Actualización y mantenimiento de datos.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R.28 Exportación de información.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135127" y="105583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757367" y="1848356"/>
            <a:ext cx="99904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200" y="906050"/>
            <a:ext cx="7769025" cy="5752301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641252" y="954633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725714" y="1636768"/>
            <a:ext cx="10824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4544" y="1586144"/>
            <a:ext cx="7689450" cy="516312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2"/>
          <p:cNvGrpSpPr/>
          <p:nvPr/>
        </p:nvGrpSpPr>
        <p:grpSpPr>
          <a:xfrm>
            <a:off x="641252" y="1035173"/>
            <a:ext cx="10515600" cy="677550"/>
            <a:chOff x="0" y="-66675"/>
            <a:chExt cx="21031200" cy="1355100"/>
          </a:xfrm>
        </p:grpSpPr>
        <p:sp>
          <p:nvSpPr>
            <p:cNvPr id="175" name="Google Shape;175;p22"/>
            <p:cNvSpPr/>
            <p:nvPr/>
          </p:nvSpPr>
          <p:spPr>
            <a:xfrm>
              <a:off x="0" y="0"/>
              <a:ext cx="21031200" cy="1288352"/>
            </a:xfrm>
            <a:custGeom>
              <a:rect b="b" l="l" r="r" t="t"/>
              <a:pathLst>
                <a:path extrusionOk="0" h="128835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8352"/>
                  </a:lnTo>
                  <a:lnTo>
                    <a:pt x="0" y="12883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6" name="Google Shape;176;p22"/>
            <p:cNvSpPr txBox="1"/>
            <p:nvPr/>
          </p:nvSpPr>
          <p:spPr>
            <a:xfrm>
              <a:off x="0" y="-66675"/>
              <a:ext cx="21031200" cy="13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L" sz="4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Tecnologías del Desarrollo</a:t>
              </a:r>
              <a:endParaRPr sz="900"/>
            </a:p>
          </p:txBody>
        </p:sp>
      </p:grpSp>
      <p:pic>
        <p:nvPicPr>
          <p:cNvPr descr="image.png"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830859"/>
            <a:ext cx="2614612" cy="2270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7" y="2830859"/>
            <a:ext cx="2614612" cy="2270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830859"/>
            <a:ext cx="2614612" cy="2270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96362" y="2830859"/>
            <a:ext cx="2614612" cy="227052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775692" y="3678584"/>
            <a:ext cx="222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828675" y="4061370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HTML5, CSS3, JS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828675" y="4457551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Bootstrap 5.3.8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3580804" y="3678584"/>
            <a:ext cx="222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3633787" y="4061370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3633787" y="4457551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Django 5.2.5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6385917" y="3678584"/>
            <a:ext cx="222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6438900" y="4061370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MySQL 8.0.43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6438900" y="4457551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Relacional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9191029" y="3678584"/>
            <a:ext cx="222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9244012" y="4061370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 / GitHub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9244012" y="4457551"/>
            <a:ext cx="21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Code, Pytest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45456" y="310708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6756" y="310708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31868" y="310708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36981" y="3107084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753794" y="7027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10271"/>
            <a:ext cx="2129730" cy="3302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6005" y="2410271"/>
            <a:ext cx="2129730" cy="3302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0985" y="2410271"/>
            <a:ext cx="2129730" cy="3302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5966" y="2410271"/>
            <a:ext cx="2129730" cy="3302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80946" y="2410271"/>
            <a:ext cx="2129730" cy="3302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4826001"/>
            <a:ext cx="1729675" cy="68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06030" y="4798069"/>
            <a:ext cx="172968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31010" y="4798069"/>
            <a:ext cx="172968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55991" y="4798069"/>
            <a:ext cx="172968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80975" y="4826002"/>
            <a:ext cx="17296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781050" y="2610296"/>
            <a:ext cx="172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1. Planificación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781050" y="2953196"/>
            <a:ext cx="172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 – S3 (3 SEMANAS)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923925" y="3497907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Acta de Constitución.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923925" y="3759844"/>
            <a:ext cx="1586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Definición de requerimientos.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923925" y="4207519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Conformación del equipo.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866775" y="4911719"/>
            <a:ext cx="15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b="1" lang="es-CL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22 de Agosto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1007715" y="5130794"/>
            <a:ext cx="1276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ENTREGABLES CLAVE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006030" y="2610296"/>
            <a:ext cx="172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2. Análisis y Diseño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3006030" y="2953196"/>
            <a:ext cx="172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S3 – S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SEMANAS)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3148905" y="3497907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Mockups y UX/UI.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3148905" y="3759844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Arquitectura del sistema.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3148905" y="4021782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Diseño de la BD (Modelo).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3091755" y="4883794"/>
            <a:ext cx="15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Fin: 1</a:t>
            </a:r>
            <a:r>
              <a:rPr b="1" lang="es-CL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s-CL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Septiembre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3332708" y="5102869"/>
            <a:ext cx="107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ARQUITECTURA Y MOCKUPS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5231010" y="2610296"/>
            <a:ext cx="172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0369A1"/>
                </a:solidFill>
                <a:latin typeface="Urbanist"/>
                <a:ea typeface="Urbanist"/>
                <a:cs typeface="Urbanist"/>
                <a:sym typeface="Urbanist"/>
              </a:rPr>
              <a:t>3. Desarrollo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231010" y="2953196"/>
            <a:ext cx="172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– S1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(7 SEMANAS)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5373885" y="3497907"/>
            <a:ext cx="1586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Sprints de construcción (1-3).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5373885" y="3945582"/>
            <a:ext cx="1586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Implementación de todos los módulos.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5316735" y="4883794"/>
            <a:ext cx="15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b="1" lang="es-CL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03 </a:t>
            </a: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1" lang="es-CL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Octubre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5502890" y="5102875"/>
            <a:ext cx="118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PRODUCTO </a:t>
            </a:r>
            <a:r>
              <a:rPr lang="es-CL" sz="9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CON TODOS LOS MÓDULOS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7455991" y="2610296"/>
            <a:ext cx="172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4. QA y Pruebas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7455991" y="2953196"/>
            <a:ext cx="172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S14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– S1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SEMANAS)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7598866" y="3497907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Pruebas funcionales (QA).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598866" y="3945582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Pruebas de BD (Técnicas).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7598866" y="4393257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Resolución de defectos.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7541716" y="4883794"/>
            <a:ext cx="15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b="1" lang="es-CL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24 </a:t>
            </a: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de Noviembre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7901731" y="5102869"/>
            <a:ext cx="83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CRITERIOS DE ACEPTACIÓN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9680971" y="2610296"/>
            <a:ext cx="172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5. Cierre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9680971" y="2953196"/>
            <a:ext cx="172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– S17 (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SEMANA)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9823846" y="3497907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Pase a Producción.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9823846" y="3759844"/>
            <a:ext cx="1586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Capacitación de usuarios clave.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9823846" y="4207519"/>
            <a:ext cx="1586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Entrega de documentación final.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9766696" y="4911719"/>
            <a:ext cx="15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b="1" lang="es-CL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05 </a:t>
            </a:r>
            <a:r>
              <a:rPr b="1" i="0" lang="es-CL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de Diciembre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10074324" y="5130794"/>
            <a:ext cx="94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9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ENTREGA FINAL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781050" y="3497907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781050" y="3759844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781050" y="4207519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3006030" y="3497907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3006030" y="3759844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3006030" y="4021782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5231010" y="3497907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5231010" y="3945582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7455991" y="3497907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7455991" y="3945582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455991" y="4393257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9680971" y="3497907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9680971" y="3759844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9680971" y="4207519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3148950" y="4321832"/>
            <a:ext cx="158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2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Diagramas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3006075" y="4321832"/>
            <a:ext cx="2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125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671244" y="827315"/>
            <a:ext cx="10515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pic>
        <p:nvPicPr>
          <p:cNvPr descr="image.png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626937"/>
            <a:ext cx="5229225" cy="5141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26937"/>
            <a:ext cx="5229225" cy="5141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860345" y="2788987"/>
            <a:ext cx="467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1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Pruebas Funcionales (QA)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6661070" y="2788987"/>
            <a:ext cx="467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1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Pruebas de Desarrollo (BD / Backend)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6087" y="20555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1171575" y="3329977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1590675" y="3329977"/>
            <a:ext cx="382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Enfoque:</a:t>
            </a: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Usuario Final (End-to-End).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1171575" y="3825277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1590675" y="3825277"/>
            <a:ext cx="382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Método:</a:t>
            </a: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Ejecución manual y exploratoria.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1171575" y="4320577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1590675" y="4320577"/>
            <a:ext cx="38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Herramienta:</a:t>
            </a: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Navegador Web (Simulación de flujos reales).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1171575" y="5120677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1590675" y="5120677"/>
            <a:ext cx="38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Alcance:</a:t>
            </a: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Validación de usabilidad, formularios, agendamiento y reportes visuales.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0" name="Google Shape;2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8237" y="20555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6972300" y="3623317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7391400" y="3623317"/>
            <a:ext cx="382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Enfoque:</a:t>
            </a: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Datos, Lógica y Transacciones.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6972300" y="4118617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7391400" y="4118617"/>
            <a:ext cx="382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Método:</a:t>
            </a: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Automatización de scripts (Pytest).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6972300" y="4613917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7391400" y="4613917"/>
            <a:ext cx="38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Alcance:</a:t>
            </a:r>
            <a:r>
              <a:rPr i="0" lang="es-CL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Integridad, concurrencia, carga masiva, y criterios de rendimiento de BD.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>
            <p:ph type="title"/>
          </p:nvPr>
        </p:nvSpPr>
        <p:spPr>
          <a:xfrm>
            <a:off x="671244" y="827315"/>
            <a:ext cx="10515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 (BD)</a:t>
            </a:r>
            <a:endParaRPr/>
          </a:p>
        </p:txBody>
      </p:sp>
      <p:pic>
        <p:nvPicPr>
          <p:cNvPr descr="image.png" id="292" name="Google Shape;2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258544"/>
            <a:ext cx="11049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3296"/>
            <a:ext cx="2547937" cy="279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083296"/>
            <a:ext cx="2547937" cy="279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083296"/>
            <a:ext cx="2547937" cy="279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083296"/>
            <a:ext cx="2547937" cy="279424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714375" y="5401419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Condición de Cierre: 17/20 pruebas (85%) aprobadas. Se requiere optimizar Desempeño y Disponibilidad.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717827" y="2883396"/>
            <a:ext cx="225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Rendimiento (P1)</a:t>
            </a:r>
            <a:endParaRPr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771400" y="3534416"/>
            <a:ext cx="21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DESVIACIÓN</a:t>
            </a:r>
            <a:r>
              <a:rPr b="1" i="0" lang="es-CL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EN SLA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771400" y="3930635"/>
            <a:ext cx="21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Throughput: 37.4 ops/s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771400" y="4326815"/>
            <a:ext cx="214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05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Objetivo: &gt; 100 ops/s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3551515" y="2883396"/>
            <a:ext cx="225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Integridad</a:t>
            </a:r>
            <a:endParaRPr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3605212" y="3702129"/>
            <a:ext cx="21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Integridad Referencial: 100%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3451550" y="4012713"/>
            <a:ext cx="245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Tasa de Éxito Transaccional: ≥ 99%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3605212" y="4323308"/>
            <a:ext cx="214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05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Estado: OK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6385202" y="2883396"/>
            <a:ext cx="2255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Carga / Concurrencia (P17)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6438900" y="3538537"/>
            <a:ext cx="21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 ACERCA AL LÍMITE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6438900" y="3934717"/>
            <a:ext cx="21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Consulta bajo carga: 8.16s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6438900" y="4330898"/>
            <a:ext cx="214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05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Objetivo: &lt; 8.0s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9218890" y="2883396"/>
            <a:ext cx="225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Disponibilidad (P14)</a:t>
            </a:r>
            <a:endParaRPr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9272487" y="3527654"/>
            <a:ext cx="21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BACKUP LENTO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9272487" y="3930635"/>
            <a:ext cx="21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Tiempo de Backup: 32.8s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9272487" y="4326815"/>
            <a:ext cx="214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05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Objetivo: &lt; 10s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4" name="Google Shape;31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4968" y="231189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12468" y="231189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4718" y="231189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6031" y="2311896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"/>
          <p:cNvSpPr txBox="1"/>
          <p:nvPr>
            <p:ph type="title"/>
          </p:nvPr>
        </p:nvSpPr>
        <p:spPr>
          <a:xfrm>
            <a:off x="671244" y="827315"/>
            <a:ext cx="10515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 (Criterios de Oracle)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571500" y="5614094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15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El sistema es altamente robusto y confiable, con oportunidades de mejora focalizadas exclusivamente en la optimización de tiempos de respuesta bajo estrés extremo.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4" name="Google Shape;3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7" y="567124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6"/>
          <p:cNvPicPr preferRelativeResize="0"/>
          <p:nvPr/>
        </p:nvPicPr>
        <p:blipFill rotWithShape="1">
          <a:blip r:embed="rId4">
            <a:alphaModFix/>
          </a:blip>
          <a:srcRect b="20810" l="0" r="0" t="0"/>
          <a:stretch/>
        </p:blipFill>
        <p:spPr>
          <a:xfrm>
            <a:off x="581025" y="1691024"/>
            <a:ext cx="11029950" cy="38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type="title"/>
          </p:nvPr>
        </p:nvSpPr>
        <p:spPr>
          <a:xfrm>
            <a:off x="671244" y="827315"/>
            <a:ext cx="10515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571500" y="5614094"/>
            <a:ext cx="1104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El 98% de los casos fueron completados exitosamente; un 2% falló y debe corregirse.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2" name="Google Shape;3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6662" y="564199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0163" y="1843415"/>
            <a:ext cx="5851665" cy="361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/>
        </p:nvSpPr>
        <p:spPr>
          <a:xfrm>
            <a:off x="457158" y="864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</a:t>
            </a:r>
            <a:endParaRPr/>
          </a:p>
        </p:txBody>
      </p:sp>
      <p:pic>
        <p:nvPicPr>
          <p:cNvPr id="339" name="Google Shape;339;p28" title="TallerConnec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4625" y="2348346"/>
            <a:ext cx="8017109" cy="450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903515" y="1647372"/>
            <a:ext cx="9670961" cy="333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obstáculos que se vivieron como equipo?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los evitaría para un próximo proyecto?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casos más complejos en desarrollar?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¿Perciben un crecimiento en su capacidad para desarrollar proyectos informáticos reales?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auto-aprendizajes que han logrado en el proceso?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Responder las Preguntas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